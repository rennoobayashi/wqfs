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9" r:id="rId3"/>
    <p:sldId id="265" r:id="rId4"/>
    <p:sldId id="270" r:id="rId5"/>
    <p:sldId id="267" r:id="rId6"/>
    <p:sldId id="271" r:id="rId7"/>
    <p:sldId id="272" r:id="rId8"/>
    <p:sldId id="273" r:id="rId9"/>
    <p:sldId id="274" r:id="rId10"/>
    <p:sldId id="263" r:id="rId11"/>
  </p:sldIdLst>
  <p:sldSz cx="12192000" cy="6858000"/>
  <p:notesSz cx="7105650" cy="102362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E"/>
    <a:srgbClr val="A9D08E"/>
    <a:srgbClr val="8ED973"/>
    <a:srgbClr val="00B0F0"/>
    <a:srgbClr val="92D050"/>
    <a:srgbClr val="FF2D2D"/>
    <a:srgbClr val="FF1919"/>
    <a:srgbClr val="FF0101"/>
    <a:srgbClr val="FF3F3F"/>
    <a:srgbClr val="FF5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4F6B2B-955B-4EA7-8C2C-A0B50ACC62EA}" v="16" dt="2025-10-08T05:25:26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50" y="4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0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115" cy="513588"/>
          </a:xfrm>
          <a:prstGeom prst="rect">
            <a:avLst/>
          </a:prstGeom>
        </p:spPr>
        <p:txBody>
          <a:bodyPr vert="horz" lIns="99094" tIns="49547" rIns="99094" bIns="4954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4891" y="0"/>
            <a:ext cx="3079115" cy="513588"/>
          </a:xfrm>
          <a:prstGeom prst="rect">
            <a:avLst/>
          </a:prstGeom>
        </p:spPr>
        <p:txBody>
          <a:bodyPr vert="horz" lIns="99094" tIns="49547" rIns="99094" bIns="49547" rtlCol="0"/>
          <a:lstStyle>
            <a:lvl1pPr algn="r">
              <a:defRPr sz="1300"/>
            </a:lvl1pPr>
          </a:lstStyle>
          <a:p>
            <a:fld id="{56AE193D-720A-4563-AA71-141E9FDCE958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94" tIns="49547" rIns="99094" bIns="4954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565" y="4926171"/>
            <a:ext cx="5684520" cy="4030504"/>
          </a:xfrm>
          <a:prstGeom prst="rect">
            <a:avLst/>
          </a:prstGeom>
        </p:spPr>
        <p:txBody>
          <a:bodyPr vert="horz" lIns="99094" tIns="49547" rIns="99094" bIns="49547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2614"/>
            <a:ext cx="3079115" cy="513587"/>
          </a:xfrm>
          <a:prstGeom prst="rect">
            <a:avLst/>
          </a:prstGeom>
        </p:spPr>
        <p:txBody>
          <a:bodyPr vert="horz" lIns="99094" tIns="49547" rIns="99094" bIns="4954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4891" y="9722614"/>
            <a:ext cx="3079115" cy="513587"/>
          </a:xfrm>
          <a:prstGeom prst="rect">
            <a:avLst/>
          </a:prstGeom>
        </p:spPr>
        <p:txBody>
          <a:bodyPr vert="horz" lIns="99094" tIns="49547" rIns="99094" bIns="49547" rtlCol="0" anchor="b"/>
          <a:lstStyle>
            <a:lvl1pPr algn="r">
              <a:defRPr sz="1300"/>
            </a:lvl1pPr>
          </a:lstStyle>
          <a:p>
            <a:fld id="{7575AEB5-661D-47AA-8B68-B3592D7F97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382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5AEB5-661D-47AA-8B68-B3592D7F979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616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98168-0A97-9FF2-F7D4-1ECC57FC1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79E55A-9A99-930D-18D8-A1DD93C19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ABFBDA-D477-77D7-7CA9-E2D7E50D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A47B9B-3D1A-CF88-E644-ED22937D8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BEB740-DE5B-B76C-330A-06CEEBD65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98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F53AF8-7DB0-5A26-0B7C-240CD4BE2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406"/>
            <a:ext cx="10515600" cy="72503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CC6B5E22-D83E-5CDD-DE41-9AA20F3F8F1E}"/>
              </a:ext>
            </a:extLst>
          </p:cNvPr>
          <p:cNvSpPr/>
          <p:nvPr userDrawn="1"/>
        </p:nvSpPr>
        <p:spPr>
          <a:xfrm>
            <a:off x="376052" y="6176963"/>
            <a:ext cx="11439896" cy="681037"/>
          </a:xfrm>
          <a:prstGeom prst="round2Same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A5A90E-0246-56CB-05EE-26C4E590E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195"/>
            <a:ext cx="10515600" cy="514776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>
              <a:defRPr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>
              <a:defRPr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>
              <a:defRPr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>
              <a:defRPr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7DB812-E764-100A-5EB4-C2D6A3BEB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3413" y="6356350"/>
            <a:ext cx="965859" cy="3651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E694CC86-33DA-4CBD-A678-F7DD024C14A4}" type="slidenum">
              <a:rPr lang="ko-KR" altLang="en-US" smtClean="0"/>
              <a:pPr/>
              <a:t>‹#›</a:t>
            </a:fld>
            <a:r>
              <a:rPr lang="en-US" altLang="ko-KR" dirty="0"/>
              <a:t>/##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59E5DB4-7844-B844-3A26-29C0CB85EF31}"/>
              </a:ext>
            </a:extLst>
          </p:cNvPr>
          <p:cNvCxnSpPr>
            <a:cxnSpLocks/>
          </p:cNvCxnSpPr>
          <p:nvPr userDrawn="1"/>
        </p:nvCxnSpPr>
        <p:spPr>
          <a:xfrm>
            <a:off x="142504" y="894608"/>
            <a:ext cx="1193470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oli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A31B6C6-7021-D05C-4034-28922A981FDF}"/>
              </a:ext>
            </a:extLst>
          </p:cNvPr>
          <p:cNvSpPr txBox="1"/>
          <p:nvPr userDrawn="1"/>
        </p:nvSpPr>
        <p:spPr>
          <a:xfrm>
            <a:off x="5625629" y="6356350"/>
            <a:ext cx="1083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WQFS</a:t>
            </a:r>
            <a:endParaRPr lang="ko-KR" altLang="en-US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86610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FF7B73-BF6E-D1BB-C735-6FE9E3E17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DE0898-4141-75EA-D3AE-78DC569E5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8BC860-778E-F9A6-0772-56B49667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14BB5A-1537-DD20-294E-F258647D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C9AC6A-BA24-4E09-A3C8-B7787951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9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13C18B-B30C-5228-AD14-31181350A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4FA97E-0081-ED45-3AB4-86729EAA45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45C145-C818-5F59-0B8C-B2BE96C05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66968A-871B-A549-5284-24CDCC1B8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58042A-2CE4-BEB7-D84A-EE82B6B4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B81584-9760-CFB7-9271-C376C6E3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86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6D3F6B-5FEB-0FAF-EBE6-ABF6E1203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576ABC-38AE-23FC-E716-2E4482386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456973-7B38-0243-336C-50568BF69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5766AE-852A-0135-5702-B5F916A0F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F2B787-24E8-CA98-357E-45340B022C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85681D6-E4B5-DC14-CB43-C30D9FE5C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F3349F-FD3E-97C8-C1A6-5FD1F578A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0857B7-C0B7-6E67-0E4C-527FFB52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44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E94DF-B5D3-E4A8-7948-09CBDECD5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E737BA-04F9-1B72-3ADC-E7D9F4C14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41AD69-0452-AC90-BF74-0EE0EA09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721304-4C54-F4A3-1EDE-52AF0E04A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44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08E2051-1EE8-FABC-1795-B323C8399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61979E1-20ED-3457-6159-B5BAE3D2D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BE655-A4B8-E3ED-A4B6-14AC20867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035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E70BE-3952-B6F0-08E3-C268632B6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8CEF35-CA5B-2519-75DC-2930CE31B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A1C5B7-053E-049C-E87E-864C4F2BF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D52A5E-3438-041A-C7A3-92AEE831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84C644-7C62-38F2-2068-2FCD286A6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27A2C1-C6BF-0AB7-29C4-70AA28DCC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44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3E8914-5EB0-B962-C33D-87F9083FB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05CB22-5208-A7FB-31E0-4B2A76304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3F4396-A1AF-C1B3-2E65-343CD828A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6577CC-D973-B0B3-4A05-7004F4DC9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E760FC-CE82-E39E-BFD6-EEE9707A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EFF2A8-A55C-3BBB-309C-F007830D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767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D9B2C-54EC-092A-70C9-326205007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5D8C25-9486-2F20-CD5C-B69646517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7864A4-9765-9F2F-D454-3DD9AFB3A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FC8299-AA22-B710-764A-D8D4626E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CB4946-787E-ABC4-AEA8-E2E005A8C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93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EE9A9B-9B2A-C5DE-8D52-3C0B6439B7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91A96A-1DBB-D94E-12DD-3DF01C266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B7DD3D-C192-510B-1588-D54CC67A9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CDB6CA-041D-2010-72A5-5217A9D58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4BAB71-AEC8-364C-65CB-0551C6FE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676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819D53D-0972-8C8F-311F-4A7A8C0BE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7F91D6-8F96-A87E-E35A-8201CC20B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7BFD77-0EA9-B63F-B1AE-319C596CF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4D894-CCE4-4219-86B7-733D27BABF1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870978-E6DF-55B0-9D8E-62FAE80D1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B9BEA4-BDE5-0F5D-7B02-14C1683AE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881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76628AFA-07F6-6A1C-1CA2-29D76184B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3826" y="0"/>
            <a:ext cx="13119652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A2A81DE-97FA-25A3-2074-0D5E1CC51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1837"/>
            <a:ext cx="9144000" cy="933479"/>
          </a:xfrm>
        </p:spPr>
        <p:txBody>
          <a:bodyPr anchor="ctr"/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WQFS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27B34A-FF70-5C7D-A3C8-15B8F4AC2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27392"/>
            <a:ext cx="9144000" cy="427840"/>
          </a:xfrm>
        </p:spPr>
        <p:txBody>
          <a:bodyPr anchor="ctr"/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(W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orld event &amp;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Q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uest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F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usion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S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ystem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1CC9D879-4FB4-47A7-8A4E-AC82EE2020A2}"/>
              </a:ext>
            </a:extLst>
          </p:cNvPr>
          <p:cNvSpPr txBox="1">
            <a:spLocks/>
          </p:cNvSpPr>
          <p:nvPr/>
        </p:nvSpPr>
        <p:spPr>
          <a:xfrm>
            <a:off x="5052970" y="4794308"/>
            <a:ext cx="1993782" cy="427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202444086 </a:t>
            </a:r>
            <a:r>
              <a: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이인희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3FE9E06B-E659-DD8B-890B-9DA9275F5E2D}"/>
              </a:ext>
            </a:extLst>
          </p:cNvPr>
          <p:cNvSpPr txBox="1">
            <a:spLocks/>
          </p:cNvSpPr>
          <p:nvPr/>
        </p:nvSpPr>
        <p:spPr>
          <a:xfrm>
            <a:off x="1524000" y="3575806"/>
            <a:ext cx="9144000" cy="104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월드 이벤트 </a:t>
            </a:r>
            <a:r>
              <a:rPr lang="en-US" altLang="ko-KR" sz="2200" dirty="0">
                <a:latin typeface="HY견고딕" panose="02030600000101010101" pitchFamily="18" charset="-127"/>
                <a:ea typeface="HY견고딕" panose="02030600000101010101" pitchFamily="18" charset="-127"/>
              </a:rPr>
              <a:t>&amp; </a:t>
            </a:r>
            <a:r>
              <a:rPr lang="ko-KR" altLang="en-US" sz="2200" dirty="0">
                <a:latin typeface="HY견고딕" panose="02030600000101010101" pitchFamily="18" charset="-127"/>
                <a:ea typeface="HY견고딕" panose="02030600000101010101" pitchFamily="18" charset="-127"/>
              </a:rPr>
              <a:t>퀘스트 </a:t>
            </a:r>
            <a:endParaRPr lang="en-US" altLang="ko-KR" sz="2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sz="2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융합 시스템</a:t>
            </a:r>
            <a:endParaRPr lang="en-US" altLang="ko-KR" sz="2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en-US" altLang="ko-KR" sz="2200" dirty="0">
                <a:latin typeface="HY견고딕" panose="02030600000101010101" pitchFamily="18" charset="-127"/>
                <a:ea typeface="HY견고딕" panose="02030600000101010101" pitchFamily="18" charset="-127"/>
              </a:rPr>
              <a:t>(10</a:t>
            </a:r>
            <a:r>
              <a:rPr lang="ko-KR" altLang="en-US" sz="2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주차</a:t>
            </a:r>
            <a:r>
              <a:rPr lang="en-US" altLang="ko-KR" sz="22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sz="2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A1112FEA-B54C-E0DD-1E8E-20EDE647DF8C}"/>
              </a:ext>
            </a:extLst>
          </p:cNvPr>
          <p:cNvSpPr txBox="1">
            <a:spLocks/>
          </p:cNvSpPr>
          <p:nvPr/>
        </p:nvSpPr>
        <p:spPr>
          <a:xfrm>
            <a:off x="9478920" y="8210549"/>
            <a:ext cx="1993782" cy="427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Background by</a:t>
            </a:r>
            <a:endParaRPr lang="ko-KR" altLang="en-US" sz="12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부제목 2">
            <a:extLst>
              <a:ext uri="{FF2B5EF4-FFF2-40B4-BE49-F238E27FC236}">
                <a16:creationId xmlns:a16="http://schemas.microsoft.com/office/drawing/2014/main" id="{A89C96B5-E020-97BE-824A-E3AD0345BC4C}"/>
              </a:ext>
            </a:extLst>
          </p:cNvPr>
          <p:cNvSpPr txBox="1">
            <a:spLocks/>
          </p:cNvSpPr>
          <p:nvPr/>
        </p:nvSpPr>
        <p:spPr>
          <a:xfrm>
            <a:off x="9764670" y="6276527"/>
            <a:ext cx="2236830" cy="427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Background</a:t>
            </a:r>
            <a:r>
              <a: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by</a:t>
            </a:r>
            <a:r>
              <a: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Gemini</a:t>
            </a:r>
            <a:endParaRPr lang="ko-KR" alt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547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14D7E-553C-C0DF-F6A2-E01B4B20E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DF499C5-1587-5788-A0DC-3371E7CAAAAD}"/>
              </a:ext>
            </a:extLst>
          </p:cNvPr>
          <p:cNvSpPr/>
          <p:nvPr/>
        </p:nvSpPr>
        <p:spPr>
          <a:xfrm>
            <a:off x="609598" y="5840557"/>
            <a:ext cx="10639779" cy="192595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08A58DB-F0DE-C5B1-CB0C-31D9A99D2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지난 주 진행 상황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20CB1A-B85F-7ED5-8585-C0D921490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pPr/>
              <a:t>2</a:t>
            </a:fld>
            <a:r>
              <a:rPr lang="en-US" altLang="ko-KR" dirty="0"/>
              <a:t>/10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D4EDA68-3964-D89E-8528-4F1A9F9D377D}"/>
              </a:ext>
            </a:extLst>
          </p:cNvPr>
          <p:cNvSpPr/>
          <p:nvPr/>
        </p:nvSpPr>
        <p:spPr>
          <a:xfrm>
            <a:off x="609600" y="5840557"/>
            <a:ext cx="10972800" cy="192595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394544-8D6B-E8B0-57AB-03D864D53601}"/>
              </a:ext>
            </a:extLst>
          </p:cNvPr>
          <p:cNvSpPr txBox="1"/>
          <p:nvPr/>
        </p:nvSpPr>
        <p:spPr>
          <a:xfrm>
            <a:off x="122870" y="5782967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0%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0DAEA3-5323-6605-E212-0E6E55D9C63A}"/>
              </a:ext>
            </a:extLst>
          </p:cNvPr>
          <p:cNvSpPr txBox="1"/>
          <p:nvPr/>
        </p:nvSpPr>
        <p:spPr>
          <a:xfrm>
            <a:off x="11548533" y="5782967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100%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17279C-B351-5FB2-A632-4266812EE967}"/>
              </a:ext>
            </a:extLst>
          </p:cNvPr>
          <p:cNvSpPr txBox="1"/>
          <p:nvPr/>
        </p:nvSpPr>
        <p:spPr>
          <a:xfrm>
            <a:off x="5861800" y="5815121"/>
            <a:ext cx="4683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HY견고딕" panose="02030600000101010101" pitchFamily="18" charset="-127"/>
                <a:ea typeface="HY견고딕" panose="02030600000101010101" pitchFamily="18" charset="-127"/>
              </a:rPr>
              <a:t>90%</a:t>
            </a:r>
            <a:endParaRPr lang="ko-KR" altLang="en-US" sz="1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05D53968-ED29-002D-5645-B1969B15F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29196"/>
            <a:ext cx="9203871" cy="1428778"/>
          </a:xfrm>
        </p:spPr>
        <p:txBody>
          <a:bodyPr>
            <a:normAutofit/>
          </a:bodyPr>
          <a:lstStyle/>
          <a:p>
            <a:r>
              <a:rPr lang="en-US" altLang="ko-KR" dirty="0"/>
              <a:t>WQFS </a:t>
            </a:r>
            <a:r>
              <a:rPr lang="ko-KR" altLang="en-US" dirty="0"/>
              <a:t>퀘스트 목록</a:t>
            </a:r>
            <a:endParaRPr lang="en-US" altLang="ko-KR" dirty="0"/>
          </a:p>
          <a:p>
            <a:pPr lvl="1"/>
            <a:r>
              <a:rPr lang="en-US" altLang="ko-KR" dirty="0"/>
              <a:t>UI</a:t>
            </a:r>
            <a:r>
              <a:rPr lang="ko-KR" altLang="en-US" dirty="0"/>
              <a:t>로 퀘스트를 표시할 수 있게 퀘스트 리스트를 문자열 형태로 반환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62BADBE-63FB-F143-82E7-D941AE6AA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632" y="2566180"/>
            <a:ext cx="5210755" cy="1725640"/>
          </a:xfrm>
          <a:prstGeom prst="rect">
            <a:avLst/>
          </a:prstGeom>
        </p:spPr>
      </p:pic>
      <p:pic>
        <p:nvPicPr>
          <p:cNvPr id="14" name="그림 1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B149E9-FC7D-BB59-136D-988894CEBE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858566"/>
            <a:ext cx="5045473" cy="3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28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A932C-7AC0-A026-41E2-A7E50647A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4FE7B53-3BF7-9CC8-3F40-EBB6EE5D3076}"/>
              </a:ext>
            </a:extLst>
          </p:cNvPr>
          <p:cNvSpPr/>
          <p:nvPr/>
        </p:nvSpPr>
        <p:spPr>
          <a:xfrm>
            <a:off x="609598" y="5840557"/>
            <a:ext cx="10639779" cy="192595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32DF39E-5FDE-E5CA-D1A1-CA514350A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지난 주 진행 상황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D81ED3-057E-790E-9D48-05F34AA23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pPr/>
              <a:t>3</a:t>
            </a:fld>
            <a:r>
              <a:rPr lang="en-US" altLang="ko-KR" dirty="0"/>
              <a:t>/10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1C772F6-1917-AE1F-3930-78EE6138062C}"/>
              </a:ext>
            </a:extLst>
          </p:cNvPr>
          <p:cNvSpPr/>
          <p:nvPr/>
        </p:nvSpPr>
        <p:spPr>
          <a:xfrm>
            <a:off x="609600" y="5840557"/>
            <a:ext cx="10972800" cy="192595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72D3D5-B958-37D8-0CB2-C60915C0BE46}"/>
              </a:ext>
            </a:extLst>
          </p:cNvPr>
          <p:cNvSpPr txBox="1"/>
          <p:nvPr/>
        </p:nvSpPr>
        <p:spPr>
          <a:xfrm>
            <a:off x="122870" y="5782967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0%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C6D761-CA20-C2D6-4261-46C3D732707A}"/>
              </a:ext>
            </a:extLst>
          </p:cNvPr>
          <p:cNvSpPr txBox="1"/>
          <p:nvPr/>
        </p:nvSpPr>
        <p:spPr>
          <a:xfrm>
            <a:off x="11548533" y="5782967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100%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841C1D-C20B-CA09-E339-9711F6EBF256}"/>
              </a:ext>
            </a:extLst>
          </p:cNvPr>
          <p:cNvSpPr txBox="1"/>
          <p:nvPr/>
        </p:nvSpPr>
        <p:spPr>
          <a:xfrm>
            <a:off x="5861800" y="5815121"/>
            <a:ext cx="4683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HY견고딕" panose="02030600000101010101" pitchFamily="18" charset="-127"/>
                <a:ea typeface="HY견고딕" panose="02030600000101010101" pitchFamily="18" charset="-127"/>
              </a:rPr>
              <a:t>90%</a:t>
            </a:r>
            <a:endParaRPr lang="ko-KR" altLang="en-US" sz="1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F61080BD-16A5-80AB-1A4F-501CB498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29195"/>
            <a:ext cx="7870371" cy="923783"/>
          </a:xfrm>
        </p:spPr>
        <p:txBody>
          <a:bodyPr>
            <a:normAutofit/>
          </a:bodyPr>
          <a:lstStyle/>
          <a:p>
            <a:r>
              <a:rPr lang="en-US" altLang="ko-KR" dirty="0"/>
              <a:t>WQFS </a:t>
            </a:r>
            <a:r>
              <a:rPr lang="ko-KR" altLang="en-US" dirty="0"/>
              <a:t>퀘스트 타입 </a:t>
            </a:r>
            <a:r>
              <a:rPr lang="en-US" altLang="ko-KR" dirty="0"/>
              <a:t>1</a:t>
            </a:r>
          </a:p>
          <a:p>
            <a:pPr lvl="1"/>
            <a:r>
              <a:rPr lang="ko-KR" altLang="en-US" dirty="0"/>
              <a:t>퀘스트 타입에 따라 발생시키는 이벤트와  완료 조건이 다름</a:t>
            </a:r>
            <a:endParaRPr lang="en-US" altLang="ko-KR" dirty="0"/>
          </a:p>
        </p:txBody>
      </p:sp>
      <p:pic>
        <p:nvPicPr>
          <p:cNvPr id="5" name="그림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695884-D038-6CF3-44E1-2AA91B49A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669296"/>
            <a:ext cx="12192000" cy="261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884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85B0D-B02E-2F68-7A5F-B2BBCC622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630560B-7D41-4AA7-61E2-8DD0E06DDC73}"/>
              </a:ext>
            </a:extLst>
          </p:cNvPr>
          <p:cNvSpPr/>
          <p:nvPr/>
        </p:nvSpPr>
        <p:spPr>
          <a:xfrm>
            <a:off x="609598" y="5840557"/>
            <a:ext cx="10639779" cy="192595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D732EDA-0CEC-21B5-BDB2-10B4B7476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지난 주 진행 상황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81FFCC-8507-F817-F8F1-D1061E5F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pPr/>
              <a:t>4</a:t>
            </a:fld>
            <a:r>
              <a:rPr lang="en-US" altLang="ko-KR" dirty="0"/>
              <a:t>/10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F24206B-3EC6-59C4-040B-BC4202C7A49B}"/>
              </a:ext>
            </a:extLst>
          </p:cNvPr>
          <p:cNvSpPr/>
          <p:nvPr/>
        </p:nvSpPr>
        <p:spPr>
          <a:xfrm>
            <a:off x="609600" y="5840557"/>
            <a:ext cx="10972800" cy="192595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7BD445-0B63-174C-56B0-23F4C1E53EBA}"/>
              </a:ext>
            </a:extLst>
          </p:cNvPr>
          <p:cNvSpPr txBox="1"/>
          <p:nvPr/>
        </p:nvSpPr>
        <p:spPr>
          <a:xfrm>
            <a:off x="122870" y="5782967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0%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6581E4-5979-55A8-E911-47C1D3D82BB1}"/>
              </a:ext>
            </a:extLst>
          </p:cNvPr>
          <p:cNvSpPr txBox="1"/>
          <p:nvPr/>
        </p:nvSpPr>
        <p:spPr>
          <a:xfrm>
            <a:off x="11548533" y="5782967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100%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F5FE63-1FA9-AD5A-FFE5-3FDC5470E810}"/>
              </a:ext>
            </a:extLst>
          </p:cNvPr>
          <p:cNvSpPr txBox="1"/>
          <p:nvPr/>
        </p:nvSpPr>
        <p:spPr>
          <a:xfrm>
            <a:off x="5861800" y="5815121"/>
            <a:ext cx="4683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HY견고딕" panose="02030600000101010101" pitchFamily="18" charset="-127"/>
                <a:ea typeface="HY견고딕" panose="02030600000101010101" pitchFamily="18" charset="-127"/>
              </a:rPr>
              <a:t>90%</a:t>
            </a:r>
            <a:endParaRPr lang="ko-KR" altLang="en-US" sz="1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1C6B8773-F14C-FF35-13D3-082504E65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29195"/>
            <a:ext cx="7870371" cy="923783"/>
          </a:xfrm>
        </p:spPr>
        <p:txBody>
          <a:bodyPr>
            <a:normAutofit/>
          </a:bodyPr>
          <a:lstStyle/>
          <a:p>
            <a:r>
              <a:rPr lang="en-US" altLang="ko-KR" dirty="0"/>
              <a:t>WQFS </a:t>
            </a:r>
            <a:r>
              <a:rPr lang="ko-KR" altLang="en-US" dirty="0"/>
              <a:t>퀘스트 타입 </a:t>
            </a:r>
            <a:r>
              <a:rPr lang="en-US" altLang="ko-KR"/>
              <a:t>2</a:t>
            </a:r>
          </a:p>
          <a:p>
            <a:pPr lvl="1"/>
            <a:endParaRPr lang="en-US" altLang="ko-KR" dirty="0"/>
          </a:p>
        </p:txBody>
      </p:sp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910930-E5C4-FBF0-DC02-65AD51463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92" y="1753299"/>
            <a:ext cx="6172652" cy="3888462"/>
          </a:xfrm>
          <a:prstGeom prst="rect">
            <a:avLst/>
          </a:prstGeom>
        </p:spPr>
      </p:pic>
      <p:pic>
        <p:nvPicPr>
          <p:cNvPr id="9" name="그림 8" descr="텍스트, 스크린샷, 직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885939-238A-1F3B-6CFA-68D3C160A8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85" r="13287"/>
          <a:stretch>
            <a:fillRect/>
          </a:stretch>
        </p:blipFill>
        <p:spPr>
          <a:xfrm>
            <a:off x="7571014" y="1747767"/>
            <a:ext cx="3871742" cy="389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116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B8BCC-04C4-4156-922D-817F4793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CB2E316-8C26-1CDD-7F0A-A52E3B41B82C}"/>
              </a:ext>
            </a:extLst>
          </p:cNvPr>
          <p:cNvSpPr/>
          <p:nvPr/>
        </p:nvSpPr>
        <p:spPr>
          <a:xfrm>
            <a:off x="609598" y="5840557"/>
            <a:ext cx="10639779" cy="192595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6F7DB81-B4CD-0020-3B58-5C80A1CDE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지난 주 진행 상황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CD1BB7-0A27-DD3E-AF28-045A7B879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pPr/>
              <a:t>5</a:t>
            </a:fld>
            <a:r>
              <a:rPr lang="en-US" altLang="ko-KR" dirty="0"/>
              <a:t>/10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8315A0A-FD38-71EC-117A-13AE7289C6AB}"/>
              </a:ext>
            </a:extLst>
          </p:cNvPr>
          <p:cNvSpPr/>
          <p:nvPr/>
        </p:nvSpPr>
        <p:spPr>
          <a:xfrm>
            <a:off x="609600" y="5840557"/>
            <a:ext cx="10972800" cy="192595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8EAFA3-77E5-4D2D-D2F2-3AD4EA9D7984}"/>
              </a:ext>
            </a:extLst>
          </p:cNvPr>
          <p:cNvSpPr txBox="1"/>
          <p:nvPr/>
        </p:nvSpPr>
        <p:spPr>
          <a:xfrm>
            <a:off x="122870" y="5782967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0%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4EA42F-D1DB-1FB7-EA7F-34E32F903808}"/>
              </a:ext>
            </a:extLst>
          </p:cNvPr>
          <p:cNvSpPr txBox="1"/>
          <p:nvPr/>
        </p:nvSpPr>
        <p:spPr>
          <a:xfrm>
            <a:off x="11548533" y="5782967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100%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B3741A-581C-05AC-29AB-CA49FB64BAF0}"/>
              </a:ext>
            </a:extLst>
          </p:cNvPr>
          <p:cNvSpPr txBox="1"/>
          <p:nvPr/>
        </p:nvSpPr>
        <p:spPr>
          <a:xfrm>
            <a:off x="5861800" y="5815121"/>
            <a:ext cx="4683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HY견고딕" panose="02030600000101010101" pitchFamily="18" charset="-127"/>
                <a:ea typeface="HY견고딕" panose="02030600000101010101" pitchFamily="18" charset="-127"/>
              </a:rPr>
              <a:t>90%</a:t>
            </a:r>
            <a:endParaRPr lang="ko-KR" altLang="en-US" sz="1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5687E576-D451-3A2D-5DCC-0411F073E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29196"/>
            <a:ext cx="7689210" cy="925294"/>
          </a:xfrm>
        </p:spPr>
        <p:txBody>
          <a:bodyPr>
            <a:normAutofit/>
          </a:bodyPr>
          <a:lstStyle/>
          <a:p>
            <a:r>
              <a:rPr lang="en-US" altLang="ko-KR" dirty="0"/>
              <a:t>WQFS </a:t>
            </a:r>
            <a:r>
              <a:rPr lang="ko-KR" altLang="en-US" dirty="0"/>
              <a:t>쓰나미 이벤트</a:t>
            </a:r>
            <a:endParaRPr lang="en-US" altLang="ko-KR" dirty="0"/>
          </a:p>
          <a:p>
            <a:pPr lvl="1"/>
            <a:r>
              <a:rPr lang="ko-KR" altLang="en-US" dirty="0"/>
              <a:t>평소에는 정지해 있다가 이벤트 발생시 이동</a:t>
            </a:r>
            <a:endParaRPr lang="en-US" altLang="ko-KR" dirty="0"/>
          </a:p>
        </p:txBody>
      </p:sp>
      <p:pic>
        <p:nvPicPr>
          <p:cNvPr id="5" name="그림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AB3067-C965-7186-D069-8FB637F2D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13" y="2308276"/>
            <a:ext cx="7457813" cy="2155867"/>
          </a:xfrm>
          <a:prstGeom prst="rect">
            <a:avLst/>
          </a:prstGeom>
        </p:spPr>
      </p:pic>
      <p:pic>
        <p:nvPicPr>
          <p:cNvPr id="9" name="그림 8" descr="가전, 가전용품, 스크린샷, 제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F9397F-D85B-4A32-DAC0-40FA2E199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00" r="13214"/>
          <a:stretch>
            <a:fillRect/>
          </a:stretch>
        </p:blipFill>
        <p:spPr>
          <a:xfrm>
            <a:off x="8082643" y="2009634"/>
            <a:ext cx="3630385" cy="36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51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510B1-70C3-62F3-A51D-85C38751A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96D7E0D-C9AD-731C-FD07-491FA1C851EC}"/>
              </a:ext>
            </a:extLst>
          </p:cNvPr>
          <p:cNvSpPr/>
          <p:nvPr/>
        </p:nvSpPr>
        <p:spPr>
          <a:xfrm>
            <a:off x="609598" y="5840557"/>
            <a:ext cx="10639779" cy="192595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444C8DF-526C-9548-3754-66C8D62F2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진행 상황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D8A3AA-A20E-1975-D487-4B76697E0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pPr/>
              <a:t>6</a:t>
            </a:fld>
            <a:r>
              <a:rPr lang="en-US" altLang="ko-KR" dirty="0"/>
              <a:t>/10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7A95E06-804A-3F48-822D-085A24AAF87A}"/>
              </a:ext>
            </a:extLst>
          </p:cNvPr>
          <p:cNvSpPr/>
          <p:nvPr/>
        </p:nvSpPr>
        <p:spPr>
          <a:xfrm>
            <a:off x="609600" y="5840557"/>
            <a:ext cx="10972800" cy="192595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19A8A9-C658-6655-AE20-A74A70313701}"/>
              </a:ext>
            </a:extLst>
          </p:cNvPr>
          <p:cNvSpPr txBox="1"/>
          <p:nvPr/>
        </p:nvSpPr>
        <p:spPr>
          <a:xfrm>
            <a:off x="122870" y="5782967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0%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F15F2-9F37-3D33-CAA7-F642B39E447F}"/>
              </a:ext>
            </a:extLst>
          </p:cNvPr>
          <p:cNvSpPr txBox="1"/>
          <p:nvPr/>
        </p:nvSpPr>
        <p:spPr>
          <a:xfrm>
            <a:off x="11548533" y="5782967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100%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5100E6-1ACD-E297-2708-A63FC20F9457}"/>
              </a:ext>
            </a:extLst>
          </p:cNvPr>
          <p:cNvSpPr txBox="1"/>
          <p:nvPr/>
        </p:nvSpPr>
        <p:spPr>
          <a:xfrm>
            <a:off x="5861800" y="5815121"/>
            <a:ext cx="4683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HY견고딕" panose="02030600000101010101" pitchFamily="18" charset="-127"/>
                <a:ea typeface="HY견고딕" panose="02030600000101010101" pitchFamily="18" charset="-127"/>
              </a:rPr>
              <a:t>90%</a:t>
            </a:r>
            <a:endParaRPr lang="ko-KR" altLang="en-US" sz="1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99928BF1-CBBE-2C36-C5FA-A5EC02D9A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29196"/>
            <a:ext cx="7689210" cy="1229590"/>
          </a:xfrm>
        </p:spPr>
        <p:txBody>
          <a:bodyPr>
            <a:normAutofit/>
          </a:bodyPr>
          <a:lstStyle/>
          <a:p>
            <a:r>
              <a:rPr lang="en-US" altLang="ko-KR" dirty="0"/>
              <a:t>WQFS </a:t>
            </a:r>
            <a:r>
              <a:rPr lang="ko-KR" altLang="en-US" dirty="0"/>
              <a:t>이벤트 발생 동적화</a:t>
            </a:r>
            <a:endParaRPr lang="en-US" altLang="ko-KR" dirty="0"/>
          </a:p>
          <a:p>
            <a:pPr lvl="1"/>
            <a:r>
              <a:rPr lang="ko-KR" altLang="en-US" dirty="0"/>
              <a:t>고정적으로 발생하는 이벤트 시간을 </a:t>
            </a:r>
            <a:r>
              <a:rPr lang="ko-KR" altLang="en-US" dirty="0" err="1"/>
              <a:t>동적화하여</a:t>
            </a:r>
            <a:r>
              <a:rPr lang="ko-KR" altLang="en-US" dirty="0"/>
              <a:t> 예측하기 </a:t>
            </a:r>
            <a:br>
              <a:rPr lang="en-US" altLang="ko-KR" dirty="0"/>
            </a:br>
            <a:r>
              <a:rPr lang="ko-KR" altLang="en-US" dirty="0"/>
              <a:t>힘들게 함</a:t>
            </a:r>
            <a:endParaRPr lang="en-US" altLang="ko-KR" dirty="0"/>
          </a:p>
        </p:txBody>
      </p:sp>
      <p:pic>
        <p:nvPicPr>
          <p:cNvPr id="9" name="그림 8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C6A8B9-B519-CC23-2A1A-E61D57F4E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47" y="2495620"/>
            <a:ext cx="6698562" cy="1290094"/>
          </a:xfrm>
          <a:prstGeom prst="rect">
            <a:avLst/>
          </a:prstGeom>
        </p:spPr>
      </p:pic>
      <p:pic>
        <p:nvPicPr>
          <p:cNvPr id="14" name="그림 1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CB4BE5-633E-F42E-81A9-25454B6DC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247" y="4056744"/>
            <a:ext cx="6698562" cy="1557958"/>
          </a:xfrm>
          <a:prstGeom prst="rect">
            <a:avLst/>
          </a:prstGeom>
        </p:spPr>
      </p:pic>
      <p:pic>
        <p:nvPicPr>
          <p:cNvPr id="5" name="그림 4" descr="스크린샷, 직사각형, 잭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FEA332-6FB7-72A7-1668-9F5484B1EA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72" r="13071"/>
          <a:stretch>
            <a:fillRect/>
          </a:stretch>
        </p:blipFill>
        <p:spPr>
          <a:xfrm>
            <a:off x="8059661" y="2029009"/>
            <a:ext cx="3488872" cy="35134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7386E5-BB13-4E68-8B5E-C2544B509880}"/>
              </a:ext>
            </a:extLst>
          </p:cNvPr>
          <p:cNvSpPr txBox="1"/>
          <p:nvPr/>
        </p:nvSpPr>
        <p:spPr>
          <a:xfrm>
            <a:off x="9007289" y="4955149"/>
            <a:ext cx="708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>
                <a:latin typeface="HY견고딕" panose="02030600000101010101" pitchFamily="18" charset="-127"/>
                <a:ea typeface="HY견고딕" panose="02030600000101010101" pitchFamily="18" charset="-127"/>
              </a:rPr>
              <a:t>3~7</a:t>
            </a: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초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488095-3BD3-F162-79B9-DA56DEB265A1}"/>
              </a:ext>
            </a:extLst>
          </p:cNvPr>
          <p:cNvSpPr txBox="1"/>
          <p:nvPr/>
        </p:nvSpPr>
        <p:spPr>
          <a:xfrm>
            <a:off x="10587635" y="4955149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5</a:t>
            </a: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초</a:t>
            </a:r>
          </a:p>
        </p:txBody>
      </p:sp>
    </p:spTree>
    <p:extLst>
      <p:ext uri="{BB962C8B-B14F-4D97-AF65-F5344CB8AC3E}">
        <p14:creationId xmlns:p14="http://schemas.microsoft.com/office/powerpoint/2010/main" val="2818906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35E72-8051-A7E9-CFAC-081FE4784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8BBE52B-21E1-11E8-5C3E-61A7FD5D9D7B}"/>
              </a:ext>
            </a:extLst>
          </p:cNvPr>
          <p:cNvSpPr/>
          <p:nvPr/>
        </p:nvSpPr>
        <p:spPr>
          <a:xfrm>
            <a:off x="609598" y="5840557"/>
            <a:ext cx="10639779" cy="192595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EA60A11-56AC-A912-8687-E96828AB4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진행 상황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E67F79-FBF8-5F90-4229-38F2DC905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pPr/>
              <a:t>7</a:t>
            </a:fld>
            <a:r>
              <a:rPr lang="en-US" altLang="ko-KR" dirty="0"/>
              <a:t>/10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62FEB88-578D-304F-FCA5-66C39121643A}"/>
              </a:ext>
            </a:extLst>
          </p:cNvPr>
          <p:cNvSpPr/>
          <p:nvPr/>
        </p:nvSpPr>
        <p:spPr>
          <a:xfrm>
            <a:off x="609600" y="5840557"/>
            <a:ext cx="10972800" cy="192595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AA9D58-5839-BFDB-F5D0-ADC7078BBC84}"/>
              </a:ext>
            </a:extLst>
          </p:cNvPr>
          <p:cNvSpPr txBox="1"/>
          <p:nvPr/>
        </p:nvSpPr>
        <p:spPr>
          <a:xfrm>
            <a:off x="122870" y="5782967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0%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FDA33F-39CC-2EC2-43EA-FE60BE3F9638}"/>
              </a:ext>
            </a:extLst>
          </p:cNvPr>
          <p:cNvSpPr txBox="1"/>
          <p:nvPr/>
        </p:nvSpPr>
        <p:spPr>
          <a:xfrm>
            <a:off x="11548533" y="5782967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100%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C55E8B-4935-1F2B-2D22-69087A9C1511}"/>
              </a:ext>
            </a:extLst>
          </p:cNvPr>
          <p:cNvSpPr txBox="1"/>
          <p:nvPr/>
        </p:nvSpPr>
        <p:spPr>
          <a:xfrm>
            <a:off x="5861800" y="5815121"/>
            <a:ext cx="4683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HY견고딕" panose="02030600000101010101" pitchFamily="18" charset="-127"/>
                <a:ea typeface="HY견고딕" panose="02030600000101010101" pitchFamily="18" charset="-127"/>
              </a:rPr>
              <a:t>90%</a:t>
            </a:r>
            <a:endParaRPr lang="ko-KR" altLang="en-US" sz="1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8EC9A4AF-A59C-36E7-9BC1-8EB9665C7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29195"/>
            <a:ext cx="7689210" cy="1523505"/>
          </a:xfrm>
        </p:spPr>
        <p:txBody>
          <a:bodyPr>
            <a:normAutofit/>
          </a:bodyPr>
          <a:lstStyle/>
          <a:p>
            <a:r>
              <a:rPr lang="en-US" altLang="ko-KR" dirty="0"/>
              <a:t>WQFS </a:t>
            </a:r>
            <a:r>
              <a:rPr lang="ko-KR" altLang="en-US" dirty="0"/>
              <a:t>서브 타입</a:t>
            </a:r>
            <a:endParaRPr lang="en-US" altLang="ko-KR" dirty="0"/>
          </a:p>
          <a:p>
            <a:pPr lvl="1"/>
            <a:r>
              <a:rPr lang="ko-KR" altLang="en-US" dirty="0"/>
              <a:t>개발자가 정의 타입</a:t>
            </a:r>
            <a:r>
              <a:rPr lang="en-US" altLang="ko-KR" dirty="0"/>
              <a:t>, </a:t>
            </a:r>
            <a:r>
              <a:rPr lang="ko-KR" altLang="en-US" dirty="0"/>
              <a:t>필요 시 개발자가 원하는 형태로 </a:t>
            </a:r>
            <a:br>
              <a:rPr lang="en-US" altLang="ko-KR" dirty="0"/>
            </a:br>
            <a:r>
              <a:rPr lang="ko-KR" altLang="en-US" dirty="0"/>
              <a:t>사용 가능</a:t>
            </a:r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en-US" altLang="ko-KR" dirty="0" err="1"/>
              <a:t>LevelGenerator</a:t>
            </a:r>
            <a:r>
              <a:rPr lang="ko-KR" altLang="en-US" dirty="0"/>
              <a:t>에서 이벤트 위치 동기화</a:t>
            </a:r>
            <a:endParaRPr lang="en-US" altLang="ko-KR" dirty="0"/>
          </a:p>
        </p:txBody>
      </p:sp>
      <p:pic>
        <p:nvPicPr>
          <p:cNvPr id="5" name="그림 4" descr="의류, 패브릭, 패턴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74F83F-E254-0185-F0CC-42DC8CB4C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0" r="17101" b="7875"/>
          <a:stretch>
            <a:fillRect/>
          </a:stretch>
        </p:blipFill>
        <p:spPr>
          <a:xfrm>
            <a:off x="7962901" y="2006169"/>
            <a:ext cx="3563862" cy="371881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753063B-7040-45FC-25B6-62E97BE4A854}"/>
              </a:ext>
            </a:extLst>
          </p:cNvPr>
          <p:cNvSpPr/>
          <p:nvPr/>
        </p:nvSpPr>
        <p:spPr>
          <a:xfrm>
            <a:off x="11004242" y="2024122"/>
            <a:ext cx="210136" cy="2934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3851CC-38EF-57A8-F905-6A72442466C6}"/>
              </a:ext>
            </a:extLst>
          </p:cNvPr>
          <p:cNvSpPr/>
          <p:nvPr/>
        </p:nvSpPr>
        <p:spPr>
          <a:xfrm>
            <a:off x="10251313" y="3281114"/>
            <a:ext cx="210136" cy="2934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CBFDD7-B238-0455-CCD9-150BDF45BB1F}"/>
              </a:ext>
            </a:extLst>
          </p:cNvPr>
          <p:cNvSpPr/>
          <p:nvPr/>
        </p:nvSpPr>
        <p:spPr>
          <a:xfrm>
            <a:off x="9499442" y="5118986"/>
            <a:ext cx="210136" cy="2934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FDD430-1B69-5A27-20D3-A26B6FC83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56" y="3375561"/>
            <a:ext cx="5331416" cy="2381968"/>
          </a:xfrm>
          <a:prstGeom prst="rect">
            <a:avLst/>
          </a:prstGeom>
        </p:spPr>
      </p:pic>
      <p:pic>
        <p:nvPicPr>
          <p:cNvPr id="22" name="그림 2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BFE86B-DABF-6FA3-B3BE-85020356B9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56" y="2438910"/>
            <a:ext cx="4765415" cy="935675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AC3E693B-9C03-29CD-96FA-8617DA4EAE10}"/>
              </a:ext>
            </a:extLst>
          </p:cNvPr>
          <p:cNvSpPr/>
          <p:nvPr/>
        </p:nvSpPr>
        <p:spPr>
          <a:xfrm>
            <a:off x="4743450" y="2438910"/>
            <a:ext cx="1118350" cy="19681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ko-KR" dirty="0"/>
              <a:t>. . .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B9EDEB0-AD31-2721-77AA-577BDED438D9}"/>
              </a:ext>
            </a:extLst>
          </p:cNvPr>
          <p:cNvSpPr/>
          <p:nvPr/>
        </p:nvSpPr>
        <p:spPr>
          <a:xfrm>
            <a:off x="5129679" y="2620009"/>
            <a:ext cx="732121" cy="19681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ko-KR" dirty="0"/>
              <a:t>. . .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C95E6AC-98B2-5997-70B6-A462F764037E}"/>
              </a:ext>
            </a:extLst>
          </p:cNvPr>
          <p:cNvSpPr/>
          <p:nvPr/>
        </p:nvSpPr>
        <p:spPr>
          <a:xfrm>
            <a:off x="5165270" y="3178255"/>
            <a:ext cx="696529" cy="19681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ko-KR" dirty="0"/>
              <a:t>. . .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F1EFE6F-FDC7-0509-B17C-FC6F970A0051}"/>
              </a:ext>
            </a:extLst>
          </p:cNvPr>
          <p:cNvSpPr/>
          <p:nvPr/>
        </p:nvSpPr>
        <p:spPr>
          <a:xfrm>
            <a:off x="5302626" y="2808338"/>
            <a:ext cx="559174" cy="19681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ko-KR" dirty="0"/>
              <a:t>. . .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E4D020F-E699-BC39-2E51-E4C13E0B1B63}"/>
              </a:ext>
            </a:extLst>
          </p:cNvPr>
          <p:cNvSpPr/>
          <p:nvPr/>
        </p:nvSpPr>
        <p:spPr>
          <a:xfrm>
            <a:off x="5328556" y="3005156"/>
            <a:ext cx="533243" cy="19681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ko-KR" dirty="0"/>
              <a:t>. . .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A86DC2B-0F56-9B46-F24D-BA078DA8BD64}"/>
              </a:ext>
            </a:extLst>
          </p:cNvPr>
          <p:cNvSpPr/>
          <p:nvPr/>
        </p:nvSpPr>
        <p:spPr>
          <a:xfrm>
            <a:off x="3621074" y="2441630"/>
            <a:ext cx="158990" cy="1783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A45B5AD-96B9-723A-172F-71FE4D438D95}"/>
              </a:ext>
            </a:extLst>
          </p:cNvPr>
          <p:cNvSpPr/>
          <p:nvPr/>
        </p:nvSpPr>
        <p:spPr>
          <a:xfrm>
            <a:off x="3837711" y="2620009"/>
            <a:ext cx="158990" cy="1783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4BC2420-49CF-ADEA-C0C6-EA3AA4135539}"/>
              </a:ext>
            </a:extLst>
          </p:cNvPr>
          <p:cNvSpPr/>
          <p:nvPr/>
        </p:nvSpPr>
        <p:spPr>
          <a:xfrm>
            <a:off x="3996701" y="2798388"/>
            <a:ext cx="158990" cy="1783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41E401F-7FAE-E171-59DF-366A55482258}"/>
              </a:ext>
            </a:extLst>
          </p:cNvPr>
          <p:cNvSpPr/>
          <p:nvPr/>
        </p:nvSpPr>
        <p:spPr>
          <a:xfrm>
            <a:off x="4060579" y="2997296"/>
            <a:ext cx="158990" cy="1783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65F2E0-A68B-9C3A-7444-1C891BC087CB}"/>
              </a:ext>
            </a:extLst>
          </p:cNvPr>
          <p:cNvSpPr/>
          <p:nvPr/>
        </p:nvSpPr>
        <p:spPr>
          <a:xfrm>
            <a:off x="3837251" y="3175675"/>
            <a:ext cx="158990" cy="1783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823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C79BF-CEFD-45A6-2D79-1EBDD13F7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진행 상황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372732-F2F4-A251-A001-F153DC46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pPr/>
              <a:t>8</a:t>
            </a:fld>
            <a:r>
              <a:rPr lang="en-US" altLang="ko-KR" dirty="0"/>
              <a:t>/10</a:t>
            </a:r>
            <a:endParaRPr lang="ko-KR" altLang="en-US" dirty="0"/>
          </a:p>
        </p:txBody>
      </p:sp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D1BC8B-CE7A-4D4D-16B2-01D162907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2770"/>
            <a:ext cx="12192000" cy="4872459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CB1B92F-F4F2-36FA-252B-833C6DEA449A}"/>
              </a:ext>
            </a:extLst>
          </p:cNvPr>
          <p:cNvSpPr/>
          <p:nvPr/>
        </p:nvSpPr>
        <p:spPr>
          <a:xfrm>
            <a:off x="609598" y="5840557"/>
            <a:ext cx="10639779" cy="192595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141B880-8917-4066-FC95-588899D1DC48}"/>
              </a:ext>
            </a:extLst>
          </p:cNvPr>
          <p:cNvSpPr/>
          <p:nvPr/>
        </p:nvSpPr>
        <p:spPr>
          <a:xfrm>
            <a:off x="609600" y="5840557"/>
            <a:ext cx="10972800" cy="192595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3F23DD-A840-1F89-D29F-4461ECD651E3}"/>
              </a:ext>
            </a:extLst>
          </p:cNvPr>
          <p:cNvSpPr txBox="1"/>
          <p:nvPr/>
        </p:nvSpPr>
        <p:spPr>
          <a:xfrm>
            <a:off x="122870" y="5782967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0%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B250C4-B0BA-7B16-C60E-6FE79E3C451E}"/>
              </a:ext>
            </a:extLst>
          </p:cNvPr>
          <p:cNvSpPr txBox="1"/>
          <p:nvPr/>
        </p:nvSpPr>
        <p:spPr>
          <a:xfrm>
            <a:off x="11548533" y="5782967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100%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B9F574-88ED-1D2D-1D5A-CE8825E22124}"/>
              </a:ext>
            </a:extLst>
          </p:cNvPr>
          <p:cNvSpPr txBox="1"/>
          <p:nvPr/>
        </p:nvSpPr>
        <p:spPr>
          <a:xfrm>
            <a:off x="5861800" y="5815121"/>
            <a:ext cx="4683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HY견고딕" panose="02030600000101010101" pitchFamily="18" charset="-127"/>
                <a:ea typeface="HY견고딕" panose="02030600000101010101" pitchFamily="18" charset="-127"/>
              </a:rPr>
              <a:t>90%</a:t>
            </a:r>
            <a:endParaRPr lang="ko-KR" altLang="en-US" sz="1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660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A1791-94C3-9B2F-3342-B0B3997E6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진행 상황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48DF68-A918-E8E5-60D9-F0081BDE6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pPr/>
              <a:t>9</a:t>
            </a:fld>
            <a:r>
              <a:rPr lang="en-US" altLang="ko-KR" dirty="0"/>
              <a:t>/10</a:t>
            </a:r>
            <a:endParaRPr lang="ko-KR" altLang="en-US" dirty="0"/>
          </a:p>
        </p:txBody>
      </p:sp>
      <p:pic>
        <p:nvPicPr>
          <p:cNvPr id="6" name="그림 5" descr="텍스트, 도표, 스케치, 종이접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11A753-2D7A-DEB4-A802-9CD39A0F7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6300"/>
            <a:ext cx="12192000" cy="4845400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6E047CD-AF6C-9FB1-A9E6-4AAF9E4E5B44}"/>
              </a:ext>
            </a:extLst>
          </p:cNvPr>
          <p:cNvSpPr/>
          <p:nvPr/>
        </p:nvSpPr>
        <p:spPr>
          <a:xfrm>
            <a:off x="609598" y="5840557"/>
            <a:ext cx="10639779" cy="192595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F1B997B-6B17-5D3F-A0C7-18F7113B3FA2}"/>
              </a:ext>
            </a:extLst>
          </p:cNvPr>
          <p:cNvSpPr/>
          <p:nvPr/>
        </p:nvSpPr>
        <p:spPr>
          <a:xfrm>
            <a:off x="609600" y="5840557"/>
            <a:ext cx="10972800" cy="192595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461D76-1A07-1BA2-10DC-FF6228B50190}"/>
              </a:ext>
            </a:extLst>
          </p:cNvPr>
          <p:cNvSpPr txBox="1"/>
          <p:nvPr/>
        </p:nvSpPr>
        <p:spPr>
          <a:xfrm>
            <a:off x="122870" y="5782967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0%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1C966-7F0C-8A76-BF57-AFAF7197E029}"/>
              </a:ext>
            </a:extLst>
          </p:cNvPr>
          <p:cNvSpPr txBox="1"/>
          <p:nvPr/>
        </p:nvSpPr>
        <p:spPr>
          <a:xfrm>
            <a:off x="11548533" y="5782967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100%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13F195-26C8-B9D5-7B2C-CE6D08840086}"/>
              </a:ext>
            </a:extLst>
          </p:cNvPr>
          <p:cNvSpPr txBox="1"/>
          <p:nvPr/>
        </p:nvSpPr>
        <p:spPr>
          <a:xfrm>
            <a:off x="5861800" y="5815121"/>
            <a:ext cx="4683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HY견고딕" panose="02030600000101010101" pitchFamily="18" charset="-127"/>
                <a:ea typeface="HY견고딕" panose="02030600000101010101" pitchFamily="18" charset="-127"/>
              </a:rPr>
              <a:t>90%</a:t>
            </a:r>
            <a:endParaRPr lang="ko-KR" altLang="en-US" sz="1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126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3A040-B2A1-E2AF-B681-7701D5AE3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추후 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41A029-9DC5-82C0-FE68-969A994C2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195"/>
            <a:ext cx="10515600" cy="3991616"/>
          </a:xfrm>
        </p:spPr>
        <p:txBody>
          <a:bodyPr>
            <a:normAutofit/>
          </a:bodyPr>
          <a:lstStyle/>
          <a:p>
            <a:r>
              <a:rPr lang="ko-KR" altLang="en-US" dirty="0"/>
              <a:t>현재 구현된 기본 정적</a:t>
            </a:r>
            <a:r>
              <a:rPr lang="en-US" altLang="ko-KR" dirty="0"/>
              <a:t>, </a:t>
            </a:r>
            <a:r>
              <a:rPr lang="ko-KR" altLang="en-US" dirty="0"/>
              <a:t>동적 이벤트를 기반으로 </a:t>
            </a:r>
            <a:br>
              <a:rPr lang="en-US" altLang="ko-KR" dirty="0"/>
            </a:br>
            <a:r>
              <a:rPr lang="ko-KR" altLang="en-US" dirty="0"/>
              <a:t>태풍</a:t>
            </a:r>
            <a:r>
              <a:rPr lang="en-US" altLang="ko-KR" dirty="0"/>
              <a:t> </a:t>
            </a:r>
            <a:r>
              <a:rPr lang="ko-KR" altLang="en-US" dirty="0"/>
              <a:t>등 다양한 이벤트를 구현할 수 있게 기능 추가 및 테스트</a:t>
            </a:r>
            <a:endParaRPr lang="en-US" altLang="ko-KR" dirty="0"/>
          </a:p>
          <a:p>
            <a:r>
              <a:rPr lang="en-US" altLang="ko-KR" dirty="0"/>
              <a:t>NPC, </a:t>
            </a:r>
            <a:r>
              <a:rPr lang="ko-KR" altLang="en-US" dirty="0"/>
              <a:t>기타 </a:t>
            </a:r>
            <a:r>
              <a:rPr lang="en-US" altLang="ko-KR" dirty="0"/>
              <a:t>UI </a:t>
            </a:r>
            <a:r>
              <a:rPr lang="ko-KR" altLang="en-US" dirty="0"/>
              <a:t>요소나 오브젝트 등의 </a:t>
            </a:r>
            <a:r>
              <a:rPr lang="ko-KR" altLang="en-US" dirty="0" err="1"/>
              <a:t>스프라이트</a:t>
            </a:r>
            <a:r>
              <a:rPr lang="ko-KR" altLang="en-US" dirty="0"/>
              <a:t> 제작</a:t>
            </a:r>
            <a:endParaRPr lang="en-US" altLang="ko-KR" dirty="0"/>
          </a:p>
          <a:p>
            <a:r>
              <a:rPr lang="ko-KR" altLang="en-US" dirty="0"/>
              <a:t>배경음악</a:t>
            </a:r>
            <a:r>
              <a:rPr lang="en-US" altLang="ko-KR" dirty="0"/>
              <a:t>, </a:t>
            </a:r>
            <a:r>
              <a:rPr lang="ko-KR" altLang="en-US" dirty="0"/>
              <a:t>사운드 </a:t>
            </a:r>
            <a:r>
              <a:rPr lang="ko-KR" altLang="en-US"/>
              <a:t>이펙트 적용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CF8C7F-202A-46D4-1C03-9A2E6985A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pPr/>
              <a:t>10</a:t>
            </a:fld>
            <a:r>
              <a:rPr lang="en-US" altLang="ko-KR" dirty="0"/>
              <a:t>/10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812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1279</TotalTime>
  <Words>246</Words>
  <Application>Microsoft Office PowerPoint</Application>
  <PresentationFormat>와이드스크린</PresentationFormat>
  <Paragraphs>73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HY견고딕</vt:lpstr>
      <vt:lpstr>맑은 고딕</vt:lpstr>
      <vt:lpstr>Arial</vt:lpstr>
      <vt:lpstr>Office 테마</vt:lpstr>
      <vt:lpstr>WQFS</vt:lpstr>
      <vt:lpstr>지난 주 진행 상황</vt:lpstr>
      <vt:lpstr>지난 주 진행 상황</vt:lpstr>
      <vt:lpstr>지난 주 진행 상황</vt:lpstr>
      <vt:lpstr>지난 주 진행 상황</vt:lpstr>
      <vt:lpstr>진행 상황</vt:lpstr>
      <vt:lpstr>진행 상황</vt:lpstr>
      <vt:lpstr>진행 상황</vt:lpstr>
      <vt:lpstr>진행 상황</vt:lpstr>
      <vt:lpstr>추후 일정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 Oobayashi</dc:creator>
  <cp:lastModifiedBy>Ren Oobayashi</cp:lastModifiedBy>
  <cp:revision>209</cp:revision>
  <dcterms:created xsi:type="dcterms:W3CDTF">2025-08-27T12:40:34Z</dcterms:created>
  <dcterms:modified xsi:type="dcterms:W3CDTF">2025-11-26T05:21:27Z</dcterms:modified>
</cp:coreProperties>
</file>