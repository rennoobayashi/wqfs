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3" r:id="rId3"/>
    <p:sldId id="264" r:id="rId4"/>
    <p:sldId id="266" r:id="rId5"/>
    <p:sldId id="265" r:id="rId6"/>
  </p:sldIdLst>
  <p:sldSz cx="12192000" cy="6858000"/>
  <p:notesSz cx="7105650" cy="10236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A28"/>
    <a:srgbClr val="03151F"/>
    <a:srgbClr val="030C10"/>
    <a:srgbClr val="A9D08E"/>
    <a:srgbClr val="8ED973"/>
    <a:srgbClr val="00B0F0"/>
    <a:srgbClr val="92D050"/>
    <a:srgbClr val="FF2D2D"/>
    <a:srgbClr val="FF1919"/>
    <a:srgbClr val="FF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F6B2B-955B-4EA7-8C2C-A0B50ACC62EA}" v="16" dt="2025-10-08T05:25:26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50" y="4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115" cy="513588"/>
          </a:xfrm>
          <a:prstGeom prst="rect">
            <a:avLst/>
          </a:prstGeom>
        </p:spPr>
        <p:txBody>
          <a:bodyPr vert="horz" lIns="99094" tIns="49547" rIns="99094" bIns="4954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891" y="0"/>
            <a:ext cx="3079115" cy="513588"/>
          </a:xfrm>
          <a:prstGeom prst="rect">
            <a:avLst/>
          </a:prstGeom>
        </p:spPr>
        <p:txBody>
          <a:bodyPr vert="horz" lIns="99094" tIns="49547" rIns="99094" bIns="49547" rtlCol="0"/>
          <a:lstStyle>
            <a:lvl1pPr algn="r">
              <a:defRPr sz="1300"/>
            </a:lvl1pPr>
          </a:lstStyle>
          <a:p>
            <a:fld id="{56AE193D-720A-4563-AA71-141E9FDCE958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94" tIns="49547" rIns="99094" bIns="4954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565" y="4926171"/>
            <a:ext cx="5684520" cy="4030504"/>
          </a:xfrm>
          <a:prstGeom prst="rect">
            <a:avLst/>
          </a:prstGeom>
        </p:spPr>
        <p:txBody>
          <a:bodyPr vert="horz" lIns="99094" tIns="49547" rIns="99094" bIns="49547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2614"/>
            <a:ext cx="3079115" cy="513587"/>
          </a:xfrm>
          <a:prstGeom prst="rect">
            <a:avLst/>
          </a:prstGeom>
        </p:spPr>
        <p:txBody>
          <a:bodyPr vert="horz" lIns="99094" tIns="49547" rIns="99094" bIns="4954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891" y="9722614"/>
            <a:ext cx="3079115" cy="513587"/>
          </a:xfrm>
          <a:prstGeom prst="rect">
            <a:avLst/>
          </a:prstGeom>
        </p:spPr>
        <p:txBody>
          <a:bodyPr vert="horz" lIns="99094" tIns="49547" rIns="99094" bIns="49547" rtlCol="0" anchor="b"/>
          <a:lstStyle>
            <a:lvl1pPr algn="r">
              <a:defRPr sz="1300"/>
            </a:lvl1pPr>
          </a:lstStyle>
          <a:p>
            <a:fld id="{7575AEB5-661D-47AA-8B68-B3592D7F9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38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5AEB5-661D-47AA-8B68-B3592D7F979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616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98168-0A97-9FF2-F7D4-1ECC57FC1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79E55A-9A99-930D-18D8-A1DD93C19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ABFBDA-D477-77D7-7CA9-E2D7E50D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A47B9B-3D1A-CF88-E644-ED22937D8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BEB740-DE5B-B76C-330A-06CEEBD6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9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F53AF8-7DB0-5A26-0B7C-240CD4BE2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406"/>
            <a:ext cx="10515600" cy="72503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A5A90E-0246-56CB-05EE-26C4E590E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95"/>
            <a:ext cx="10515600" cy="514776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>
              <a:defRPr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>
              <a:defRPr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>
              <a:defRPr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>
              <a:defRPr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CC6B5E22-D83E-5CDD-DE41-9AA20F3F8F1E}"/>
              </a:ext>
            </a:extLst>
          </p:cNvPr>
          <p:cNvSpPr/>
          <p:nvPr userDrawn="1"/>
        </p:nvSpPr>
        <p:spPr>
          <a:xfrm>
            <a:off x="376052" y="6176963"/>
            <a:ext cx="11439896" cy="681037"/>
          </a:xfrm>
          <a:prstGeom prst="round2Same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7DB812-E764-100A-5EB4-C2D6A3BEB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3413" y="6356350"/>
            <a:ext cx="965859" cy="3651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E694CC86-33DA-4CBD-A678-F7DD024C14A4}" type="slidenum">
              <a:rPr lang="ko-KR" altLang="en-US" smtClean="0"/>
              <a:pPr/>
              <a:t>‹#›</a:t>
            </a:fld>
            <a:r>
              <a:rPr lang="en-US" altLang="ko-KR" dirty="0"/>
              <a:t>/##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59E5DB4-7844-B844-3A26-29C0CB85EF31}"/>
              </a:ext>
            </a:extLst>
          </p:cNvPr>
          <p:cNvCxnSpPr>
            <a:cxnSpLocks/>
          </p:cNvCxnSpPr>
          <p:nvPr userDrawn="1"/>
        </p:nvCxnSpPr>
        <p:spPr>
          <a:xfrm>
            <a:off x="142504" y="894608"/>
            <a:ext cx="11934701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31B6C6-7021-D05C-4034-28922A981FDF}"/>
              </a:ext>
            </a:extLst>
          </p:cNvPr>
          <p:cNvSpPr txBox="1"/>
          <p:nvPr userDrawn="1"/>
        </p:nvSpPr>
        <p:spPr>
          <a:xfrm>
            <a:off x="5625629" y="6356350"/>
            <a:ext cx="108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WQFS</a:t>
            </a:r>
            <a:endParaRPr lang="ko-KR" altLang="en-US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8661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FF7B73-BF6E-D1BB-C735-6FE9E3E17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DE0898-4141-75EA-D3AE-78DC569E5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8BC860-778E-F9A6-0772-56B49667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14BB5A-1537-DD20-294E-F258647D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C9AC6A-BA24-4E09-A3C8-B7787951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9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3C18B-B30C-5228-AD14-31181350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4FA97E-0081-ED45-3AB4-86729EAA45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45C145-C818-5F59-0B8C-B2BE96C05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66968A-871B-A549-5284-24CDCC1B8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58042A-2CE4-BEB7-D84A-EE82B6B4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B81584-9760-CFB7-9271-C376C6E3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86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6D3F6B-5FEB-0FAF-EBE6-ABF6E1203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576ABC-38AE-23FC-E716-2E4482386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456973-7B38-0243-336C-50568BF69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5766AE-852A-0135-5702-B5F916A0F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F2B787-24E8-CA98-357E-45340B022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85681D6-E4B5-DC14-CB43-C30D9FE5C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F3349F-FD3E-97C8-C1A6-5FD1F578A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0857B7-C0B7-6E67-0E4C-527FFB52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44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E94DF-B5D3-E4A8-7948-09CBDECD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E737BA-04F9-1B72-3ADC-E7D9F4C14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41AD69-0452-AC90-BF74-0EE0EA09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721304-4C54-F4A3-1EDE-52AF0E04A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44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8E2051-1EE8-FABC-1795-B323C8399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1979E1-20ED-3457-6159-B5BAE3D2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BE655-A4B8-E3ED-A4B6-14AC2086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035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E70BE-3952-B6F0-08E3-C268632B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8CEF35-CA5B-2519-75DC-2930CE31B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A1C5B7-053E-049C-E87E-864C4F2BF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D52A5E-3438-041A-C7A3-92AEE831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84C644-7C62-38F2-2068-2FCD286A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27A2C1-C6BF-0AB7-29C4-70AA28DC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44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E8914-5EB0-B962-C33D-87F9083FB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05CB22-5208-A7FB-31E0-4B2A76304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3F4396-A1AF-C1B3-2E65-343CD828A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6577CC-D973-B0B3-4A05-7004F4DC9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E760FC-CE82-E39E-BFD6-EEE9707A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EFF2A8-A55C-3BBB-309C-F007830D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767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D9B2C-54EC-092A-70C9-32620500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5D8C25-9486-2F20-CD5C-B69646517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864A4-9765-9F2F-D454-3DD9AFB3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C8299-AA22-B710-764A-D8D4626E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CB4946-787E-ABC4-AEA8-E2E005A8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3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EE9A9B-9B2A-C5DE-8D52-3C0B6439B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1A96A-1DBB-D94E-12DD-3DF01C266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B7DD3D-C192-510B-1588-D54CC67A9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D894-CCE4-4219-86B7-733D27BABF1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CDB6CA-041D-2010-72A5-5217A9D5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4BAB71-AEC8-364C-65CB-0551C6FE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67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19D53D-0972-8C8F-311F-4A7A8C0BE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7F91D6-8F96-A87E-E35A-8201CC20B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7BFD77-0EA9-B63F-B1AE-319C596CF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4D894-CCE4-4219-86B7-733D27BABF1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870978-E6DF-55B0-9D8E-62FAE80D1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B9BEA4-BDE5-0F5D-7B02-14C1683AE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4CC86-33DA-4CBD-A678-F7DD024C1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88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6132B5-99AE-8909-DF48-84C82F2B2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50" t="21660" r="350" b="22091"/>
          <a:stretch>
            <a:fillRect/>
          </a:stretch>
        </p:blipFill>
        <p:spPr>
          <a:xfrm>
            <a:off x="0" y="0"/>
            <a:ext cx="2755392" cy="6858000"/>
          </a:xfrm>
          <a:prstGeom prst="rect">
            <a:avLst/>
          </a:prstGeom>
        </p:spPr>
      </p:pic>
      <p:pic>
        <p:nvPicPr>
          <p:cNvPr id="7" name="그림 6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0B11D3-C25F-367B-7235-4B2C85774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60" r="22600" b="22091"/>
          <a:stretch>
            <a:fillRect/>
          </a:stretch>
        </p:blipFill>
        <p:spPr>
          <a:xfrm>
            <a:off x="2755392" y="0"/>
            <a:ext cx="943660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A2A81DE-97FA-25A3-2074-0D5E1CC51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036" y="2001837"/>
            <a:ext cx="11055928" cy="933479"/>
          </a:xfrm>
        </p:spPr>
        <p:txBody>
          <a:bodyPr anchor="ctr"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유니티 엔진 보안 취약점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1CC9D879-4FB4-47A7-8A4E-AC82EE2020A2}"/>
              </a:ext>
            </a:extLst>
          </p:cNvPr>
          <p:cNvSpPr txBox="1">
            <a:spLocks/>
          </p:cNvSpPr>
          <p:nvPr/>
        </p:nvSpPr>
        <p:spPr>
          <a:xfrm>
            <a:off x="5099109" y="3547308"/>
            <a:ext cx="1993782" cy="427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202444086 </a:t>
            </a:r>
            <a:r>
              <a:rPr lang="ko-KR" altLang="en-US" sz="1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이인희</a:t>
            </a:r>
          </a:p>
        </p:txBody>
      </p:sp>
      <p:sp>
        <p:nvSpPr>
          <p:cNvPr id="16" name="부제목 2">
            <a:extLst>
              <a:ext uri="{FF2B5EF4-FFF2-40B4-BE49-F238E27FC236}">
                <a16:creationId xmlns:a16="http://schemas.microsoft.com/office/drawing/2014/main" id="{A89C96B5-E020-97BE-824A-E3AD0345BC4C}"/>
              </a:ext>
            </a:extLst>
          </p:cNvPr>
          <p:cNvSpPr txBox="1">
            <a:spLocks/>
          </p:cNvSpPr>
          <p:nvPr/>
        </p:nvSpPr>
        <p:spPr>
          <a:xfrm>
            <a:off x="9764670" y="6276527"/>
            <a:ext cx="2236830" cy="427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Background</a:t>
            </a:r>
            <a:r>
              <a:rPr lang="ko-KR" altLang="en-US" sz="1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by</a:t>
            </a:r>
            <a:r>
              <a:rPr lang="ko-KR" altLang="en-US" sz="1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Gemini</a:t>
            </a:r>
            <a:endParaRPr lang="ko-KR" altLang="en-US" sz="12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부제목 2">
            <a:extLst>
              <a:ext uri="{FF2B5EF4-FFF2-40B4-BE49-F238E27FC236}">
                <a16:creationId xmlns:a16="http://schemas.microsoft.com/office/drawing/2014/main" id="{8C4E322C-49CB-2140-E78F-C2881E3F1D7C}"/>
              </a:ext>
            </a:extLst>
          </p:cNvPr>
          <p:cNvSpPr txBox="1">
            <a:spLocks/>
          </p:cNvSpPr>
          <p:nvPr/>
        </p:nvSpPr>
        <p:spPr>
          <a:xfrm>
            <a:off x="-1" y="6430160"/>
            <a:ext cx="5611091" cy="427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출처</a:t>
            </a:r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월요 신문 </a:t>
            </a:r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https://www.wolyo.co.kr/news/articleView.html?idxno=302183</a:t>
            </a:r>
            <a:endParaRPr lang="ko-KR" altLang="en-US" sz="10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547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27D66F2-8D13-CFA9-6434-D965B82334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88F4D4B-49ED-B39A-0A48-7B275211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개요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6B30C5-E8FE-48BA-2C53-C14D19850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96"/>
            <a:ext cx="10993582" cy="2108860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최근 공개한 유니티의 치명적인 보안 취약점</a:t>
            </a:r>
            <a:r>
              <a:rPr lang="en-US" altLang="ko-KR" dirty="0">
                <a:solidFill>
                  <a:schemeClr val="bg1"/>
                </a:solidFill>
              </a:rPr>
              <a:t>(CVE-2025-59489)</a:t>
            </a:r>
            <a:r>
              <a:rPr lang="ko-KR" altLang="en-US" dirty="0">
                <a:solidFill>
                  <a:schemeClr val="bg1"/>
                </a:solidFill>
              </a:rPr>
              <a:t>이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글로벌 게임 업계 전반에 긴장감을 불러일으키고 있습니다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이번 결함은 윈도우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맥</a:t>
            </a:r>
            <a:r>
              <a:rPr lang="en-US" altLang="ko-KR" dirty="0">
                <a:solidFill>
                  <a:schemeClr val="bg1"/>
                </a:solidFill>
              </a:rPr>
              <a:t>OS, </a:t>
            </a:r>
            <a:r>
              <a:rPr lang="ko-KR" altLang="en-US" dirty="0">
                <a:solidFill>
                  <a:schemeClr val="bg1"/>
                </a:solidFill>
              </a:rPr>
              <a:t>리눅스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안드로이드를 대상으로 제작한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유니티 </a:t>
            </a:r>
            <a:r>
              <a:rPr lang="en-US" altLang="ko-KR" dirty="0">
                <a:solidFill>
                  <a:schemeClr val="bg1"/>
                </a:solidFill>
              </a:rPr>
              <a:t>2017.1 </a:t>
            </a:r>
            <a:r>
              <a:rPr lang="ko-KR" altLang="en-US" dirty="0">
                <a:solidFill>
                  <a:schemeClr val="bg1"/>
                </a:solidFill>
              </a:rPr>
              <a:t>이상 버전에 영향을 미치며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취약점 점수는 </a:t>
            </a:r>
            <a:r>
              <a:rPr lang="en-US" altLang="ko-KR" dirty="0">
                <a:solidFill>
                  <a:schemeClr val="bg1"/>
                </a:solidFill>
              </a:rPr>
              <a:t>8.4</a:t>
            </a:r>
            <a:r>
              <a:rPr lang="ko-KR" altLang="en-US" dirty="0">
                <a:solidFill>
                  <a:schemeClr val="bg1"/>
                </a:solidFill>
              </a:rPr>
              <a:t>에 이릅니다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87B65-C485-174B-1A51-239CFC31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2</a:t>
            </a:fld>
            <a:r>
              <a:rPr lang="en-US" altLang="ko-KR" dirty="0"/>
              <a:t>/5</a:t>
            </a:r>
            <a:endParaRPr lang="ko-KR" altLang="en-US" dirty="0"/>
          </a:p>
        </p:txBody>
      </p:sp>
      <p:pic>
        <p:nvPicPr>
          <p:cNvPr id="11" name="그림 10" descr="그래픽, 스케치, 그림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C99BEE-5E11-B2BC-0B7B-89DA5B622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6" t="8522" b="8239"/>
          <a:stretch>
            <a:fillRect/>
          </a:stretch>
        </p:blipFill>
        <p:spPr>
          <a:xfrm>
            <a:off x="4350326" y="3025274"/>
            <a:ext cx="3969330" cy="351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37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1DE9-009C-8C9A-CB14-491A6021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38977CB-9684-F4E6-0DC1-254FB5EC3B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49786A-9121-34AC-C4E9-FC7F24D1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영향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4A3261-4BA3-05EC-A492-297E31C9A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96"/>
            <a:ext cx="10661072" cy="370064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해당 문제는 일본 </a:t>
            </a:r>
            <a:r>
              <a:rPr lang="en-US" altLang="ko-KR" dirty="0">
                <a:solidFill>
                  <a:schemeClr val="bg1"/>
                </a:solidFill>
              </a:rPr>
              <a:t>GMO </a:t>
            </a:r>
            <a:r>
              <a:rPr lang="ko-KR" altLang="en-US" dirty="0">
                <a:solidFill>
                  <a:schemeClr val="bg1"/>
                </a:solidFill>
              </a:rPr>
              <a:t>플랫 </a:t>
            </a:r>
            <a:r>
              <a:rPr lang="ko-KR" altLang="en-US" dirty="0" err="1">
                <a:solidFill>
                  <a:schemeClr val="bg1"/>
                </a:solidFill>
              </a:rPr>
              <a:t>시큐리티의</a:t>
            </a:r>
            <a:r>
              <a:rPr lang="ko-KR" altLang="en-US" dirty="0">
                <a:solidFill>
                  <a:schemeClr val="bg1"/>
                </a:solidFill>
              </a:rPr>
              <a:t> 연구원 </a:t>
            </a:r>
            <a:r>
              <a:rPr lang="ko-KR" altLang="en-US" dirty="0" err="1">
                <a:solidFill>
                  <a:schemeClr val="bg1"/>
                </a:solidFill>
              </a:rPr>
              <a:t>료타</a:t>
            </a:r>
            <a:r>
              <a:rPr lang="ko-KR" altLang="en-US" dirty="0">
                <a:solidFill>
                  <a:schemeClr val="bg1"/>
                </a:solidFill>
              </a:rPr>
              <a:t> 케이가 </a:t>
            </a:r>
            <a:r>
              <a:rPr lang="en-US" altLang="ko-KR" dirty="0">
                <a:solidFill>
                  <a:schemeClr val="bg1"/>
                </a:solidFill>
              </a:rPr>
              <a:t>6</a:t>
            </a:r>
            <a:r>
              <a:rPr lang="ko-KR" altLang="en-US" dirty="0">
                <a:solidFill>
                  <a:schemeClr val="bg1"/>
                </a:solidFill>
              </a:rPr>
              <a:t>월에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발견 했으며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애플리케이션 내 악의적 파일 로딩과 로컬 코드 실행이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가능해지는 구조적 결함으로 평가 받습니다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이번 취약점은 운영체제별로 로컬 파일 </a:t>
            </a:r>
            <a:r>
              <a:rPr lang="ko-KR" altLang="en-US" dirty="0" err="1">
                <a:solidFill>
                  <a:schemeClr val="bg1"/>
                </a:solidFill>
              </a:rPr>
              <a:t>인클루전</a:t>
            </a:r>
            <a:r>
              <a:rPr lang="ko-KR" altLang="en-US" dirty="0">
                <a:solidFill>
                  <a:schemeClr val="bg1"/>
                </a:solidFill>
              </a:rPr>
              <a:t> 공격과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악성 라이브러리 참조 등 다양한 방식의 공격이 가능해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한동안 침묵 상태였던 런타임 코드 내부에 심각한 허점이 있었음이 밝혀졌습니다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유니티 엔진의 글로벌 시장에서 압도적 점유율을 차지하고 있어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최근 몇 년간 출시된 수많은 </a:t>
            </a:r>
            <a:r>
              <a:rPr lang="ko-KR" altLang="en-US" dirty="0" err="1">
                <a:solidFill>
                  <a:schemeClr val="bg1"/>
                </a:solidFill>
              </a:rPr>
              <a:t>인디</a:t>
            </a:r>
            <a:r>
              <a:rPr lang="ko-KR" altLang="en-US" dirty="0">
                <a:solidFill>
                  <a:schemeClr val="bg1"/>
                </a:solidFill>
              </a:rPr>
              <a:t> 게임과 디지털 어플리케이션들이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해당 문제에 노출된 것을 확인해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게임사들과 플랫폼 업체들은 신속한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대응에 나서고 있습니다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5AB8E-C788-E4FE-1225-87BBF651D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3</a:t>
            </a:fld>
            <a:r>
              <a:rPr lang="en-US" altLang="ko-KR" dirty="0"/>
              <a:t>/5</a:t>
            </a:r>
            <a:endParaRPr lang="ko-KR" altLang="en-US" dirty="0"/>
          </a:p>
        </p:txBody>
      </p:sp>
      <p:pic>
        <p:nvPicPr>
          <p:cNvPr id="6" name="그림 5" descr="스크린샷, 만화 영화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156791-0558-F56F-A8AA-CD0AE92E3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429" y="4396668"/>
            <a:ext cx="2590800" cy="229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9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1EDC3-BE1D-45D7-54A7-3F703199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393D3E2-DBE9-6895-1ABC-5088EDD82E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00A608-F881-4FEE-870D-2658B82B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영향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6B8811-1B12-2D0B-C256-B4C5EC113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95"/>
            <a:ext cx="10661072" cy="3814947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유니티 측 공식 발표에 따르면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현재까지 실사용자 대상 악용 또는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정보 유출 사례는 없지만 잠재적 위험은 상당합니다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마이크로소프트 </a:t>
            </a:r>
            <a:r>
              <a:rPr lang="ko-KR" altLang="en-US" dirty="0" err="1">
                <a:solidFill>
                  <a:schemeClr val="bg1"/>
                </a:solidFill>
              </a:rPr>
              <a:t>디펜더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스팀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등 주요 플랫폼들은 보안 업데이트를 통해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해당 취약점 탐지 및 차단 기능을 이미 적용 중이며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구글 플레이 역시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플레이스토어에서 배포되는 유니티 기반 앱을 대상으로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추가적인 인증 절차를 강화하였습니다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대형 개발사인 </a:t>
            </a:r>
            <a:r>
              <a:rPr lang="ko-KR" altLang="en-US" dirty="0" err="1">
                <a:solidFill>
                  <a:schemeClr val="bg1"/>
                </a:solidFill>
              </a:rPr>
              <a:t>옵시디안</a:t>
            </a:r>
            <a:r>
              <a:rPr lang="ko-KR" altLang="en-US" dirty="0">
                <a:solidFill>
                  <a:schemeClr val="bg1"/>
                </a:solidFill>
              </a:rPr>
              <a:t> 엔터테인먼트는 취약점 패치 적용 전까지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사용자 안전을 확보하기 위해 </a:t>
            </a:r>
            <a:r>
              <a:rPr lang="ko-KR" altLang="en-US" dirty="0" err="1">
                <a:solidFill>
                  <a:schemeClr val="bg1"/>
                </a:solidFill>
              </a:rPr>
              <a:t>펜티먼트</a:t>
            </a:r>
            <a:r>
              <a:rPr lang="ko-KR" altLang="en-US" dirty="0">
                <a:solidFill>
                  <a:schemeClr val="bg1"/>
                </a:solidFill>
              </a:rPr>
              <a:t> 등의 주요 유니티 기반 타이틀을 </a:t>
            </a:r>
            <a:br>
              <a:rPr lang="en-US" altLang="ko-KR">
                <a:solidFill>
                  <a:schemeClr val="bg1"/>
                </a:solidFill>
              </a:rPr>
            </a:br>
            <a:r>
              <a:rPr lang="ko-KR" altLang="en-US">
                <a:solidFill>
                  <a:schemeClr val="bg1"/>
                </a:solidFill>
              </a:rPr>
              <a:t>일시적으로 </a:t>
            </a:r>
            <a:r>
              <a:rPr lang="ko-KR" altLang="en-US" dirty="0">
                <a:solidFill>
                  <a:schemeClr val="bg1"/>
                </a:solidFill>
              </a:rPr>
              <a:t>스팀 등 디지털 스토어에서 내리는 결정을 내렸다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9C8B5B-EEC0-12EF-A2CF-4F19271DC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4</a:t>
            </a:fld>
            <a:r>
              <a:rPr lang="en-US" altLang="ko-KR" dirty="0"/>
              <a:t>/5</a:t>
            </a:r>
            <a:endParaRPr lang="ko-KR" altLang="en-US" dirty="0"/>
          </a:p>
        </p:txBody>
      </p:sp>
      <p:pic>
        <p:nvPicPr>
          <p:cNvPr id="8" name="그림 7" descr="노트북, 클립아트, 장난감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8A9329-AF4F-6EFD-7451-3DD52A112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965" y="4370616"/>
            <a:ext cx="2329542" cy="232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07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AA44-5DE4-2460-D0E6-C2D5C8D2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AF3DEE6-2CD0-AEDA-E1CF-4FE2431EBA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6860437-524F-C62D-9EF2-486951AEC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대응 방안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9B8A7-44F2-878A-6529-00CE921B0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95"/>
            <a:ext cx="10993582" cy="4892633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유니티는 </a:t>
            </a:r>
            <a:r>
              <a:rPr lang="en-US" altLang="ko-KR" dirty="0">
                <a:solidFill>
                  <a:schemeClr val="bg1"/>
                </a:solidFill>
              </a:rPr>
              <a:t>2019.1 </a:t>
            </a:r>
            <a:r>
              <a:rPr lang="ko-KR" altLang="en-US" dirty="0">
                <a:solidFill>
                  <a:schemeClr val="bg1"/>
                </a:solidFill>
              </a:rPr>
              <a:t>이상 버전 대상 즉각적인 패치를 배포하는 한편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이미 출시된 게임을 위한 바이너리 </a:t>
            </a:r>
            <a:r>
              <a:rPr lang="ko-KR" altLang="en-US" dirty="0" err="1">
                <a:solidFill>
                  <a:schemeClr val="bg1"/>
                </a:solidFill>
              </a:rPr>
              <a:t>패처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도구도 함께 공개했습니다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각 개발자들은 기존 프로젝트 </a:t>
            </a:r>
            <a:r>
              <a:rPr lang="ko-KR" altLang="en-US" dirty="0" err="1">
                <a:solidFill>
                  <a:schemeClr val="bg1"/>
                </a:solidFill>
              </a:rPr>
              <a:t>재빌드</a:t>
            </a:r>
            <a:r>
              <a:rPr lang="ko-KR" altLang="en-US" dirty="0">
                <a:solidFill>
                  <a:schemeClr val="bg1"/>
                </a:solidFill>
              </a:rPr>
              <a:t> 또는 바이너리 패치 적용을 통해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보안 문제를 최소화할 것을 </a:t>
            </a:r>
            <a:r>
              <a:rPr lang="ko-KR" altLang="en-US" dirty="0" err="1">
                <a:solidFill>
                  <a:schemeClr val="bg1"/>
                </a:solidFill>
              </a:rPr>
              <a:t>권고받고</a:t>
            </a:r>
            <a:r>
              <a:rPr lang="ko-KR" altLang="en-US" dirty="0">
                <a:solidFill>
                  <a:schemeClr val="bg1"/>
                </a:solidFill>
              </a:rPr>
              <a:t> 있습니다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스팀 클라이언트 역시 취약점이 포함된 게임의 실행을 자동 차단하며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 err="1">
                <a:solidFill>
                  <a:schemeClr val="bg1"/>
                </a:solidFill>
              </a:rPr>
              <a:t>시큐어</a:t>
            </a:r>
            <a:r>
              <a:rPr lang="ko-KR" altLang="en-US" dirty="0">
                <a:solidFill>
                  <a:schemeClr val="bg1"/>
                </a:solidFill>
              </a:rPr>
              <a:t> 부트와 </a:t>
            </a:r>
            <a:r>
              <a:rPr lang="en-US" altLang="ko-KR" dirty="0">
                <a:solidFill>
                  <a:schemeClr val="bg1"/>
                </a:solidFill>
              </a:rPr>
              <a:t>TPM </a:t>
            </a:r>
            <a:r>
              <a:rPr lang="ko-KR" altLang="en-US" dirty="0">
                <a:solidFill>
                  <a:schemeClr val="bg1"/>
                </a:solidFill>
              </a:rPr>
              <a:t>상태 정보를 함께 노출해 플레이어들이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시스템 안전성을 직접 확인할 수 있도록 했습니다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C40109-A0CC-8F8A-9569-2AAF6F08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CC86-33DA-4CBD-A678-F7DD024C14A4}" type="slidenum">
              <a:rPr lang="ko-KR" altLang="en-US" smtClean="0"/>
              <a:pPr/>
              <a:t>5</a:t>
            </a:fld>
            <a:r>
              <a:rPr lang="en-US" altLang="ko-KR" dirty="0"/>
              <a:t>/5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3345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336</Words>
  <Application>Microsoft Office PowerPoint</Application>
  <PresentationFormat>와이드스크린</PresentationFormat>
  <Paragraphs>25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HY견고딕</vt:lpstr>
      <vt:lpstr>맑은 고딕</vt:lpstr>
      <vt:lpstr>Arial</vt:lpstr>
      <vt:lpstr>Office 테마</vt:lpstr>
      <vt:lpstr>유니티 엔진 보안 취약점</vt:lpstr>
      <vt:lpstr>개요</vt:lpstr>
      <vt:lpstr>영향</vt:lpstr>
      <vt:lpstr>영향</vt:lpstr>
      <vt:lpstr>대응 방안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 Oobayashi</dc:creator>
  <cp:lastModifiedBy>Ren Oobayashi</cp:lastModifiedBy>
  <cp:revision>52</cp:revision>
  <dcterms:created xsi:type="dcterms:W3CDTF">2025-08-27T12:40:34Z</dcterms:created>
  <dcterms:modified xsi:type="dcterms:W3CDTF">2025-10-28T05:13:27Z</dcterms:modified>
</cp:coreProperties>
</file>